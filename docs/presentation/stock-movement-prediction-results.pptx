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448800" y="65532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Stock Movement Prediction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104900"/>
            <a:ext cx="723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股票价格移动方向预测</a:t>
            </a:r>
            <a:endParaRPr sz="300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7526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项目汇报</a:t>
            </a:r>
            <a:endParaRPr sz="13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857500"/>
            <a:ext cx="7239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30670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展示范围</a:t>
            </a:r>
            <a:endParaRPr sz="1200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3371850"/>
            <a:ext cx="647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目标与数据 -&gt; 清洗与特征 -&gt; 模型与工程 -&gt; 三版结果对比 -&gt; 后续优化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4248150"/>
            <a:ext cx="7239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44577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组员信息</a:t>
            </a:r>
            <a:endParaRPr sz="1200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4762500"/>
            <a:ext cx="647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组员：</a:t>
            </a:r>
            <a:r>
              <a:rPr lang="zh-CN"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刘婧姝</a:t>
            </a:r>
            <a:r>
              <a:rPr lang="en-US" altLang="zh-CN"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lang="zh-CN" altLang="en-US"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陶重光</a:t>
            </a:r>
            <a:endParaRPr lang="zh-CN" altLang="en-US"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任务定义</a:t>
            </a:r>
            <a:endParaRPr sz="975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85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五个 horizon 的三分类预测</a:t>
            </a:r>
            <a:endParaRPr sz="23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02870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五个未来 tick 间隔，各自输出下跌、不变或上涨；平台同时评价覆盖率和收益。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448800" y="65532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Stock Movement Prediction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714500"/>
            <a:ext cx="4095750" cy="236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1714500"/>
            <a:ext cx="4095750" cy="3619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1809750"/>
            <a:ext cx="916057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标签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30457" y="1809750"/>
            <a:ext cx="916057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预测间隔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754257" y="1714500"/>
            <a:ext cx="9525" cy="236220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898913" y="1809750"/>
            <a:ext cx="1806437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类别含义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822713" y="1714500"/>
            <a:ext cx="9525" cy="236220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2076450"/>
            <a:ext cx="40957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62000" y="2162175"/>
            <a:ext cx="91605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label_5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830457" y="2162175"/>
            <a:ext cx="91605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 ticks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898913" y="2162175"/>
            <a:ext cx="180643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 跌 / 1 不变 / 2 涨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5800" y="2476500"/>
            <a:ext cx="4095750" cy="400050"/>
          </a:xfrm>
          <a:prstGeom prst="rect">
            <a:avLst/>
          </a:prstGeom>
          <a:solidFill>
            <a:srgbClr val="FCFC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2476500"/>
            <a:ext cx="40957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62000" y="2562225"/>
            <a:ext cx="91605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label_10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830457" y="2562225"/>
            <a:ext cx="91605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 ticks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898913" y="2562225"/>
            <a:ext cx="180643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 跌 / 1 不变 / 2 涨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2876550"/>
            <a:ext cx="40957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62000" y="2962275"/>
            <a:ext cx="91605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label_20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830457" y="2962275"/>
            <a:ext cx="91605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 ticks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898913" y="2962275"/>
            <a:ext cx="180643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 跌 / 1 不变 / 2 涨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85800" y="3276600"/>
            <a:ext cx="4095750" cy="400050"/>
          </a:xfrm>
          <a:prstGeom prst="rect">
            <a:avLst/>
          </a:prstGeom>
          <a:solidFill>
            <a:srgbClr val="FCFC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85800" y="3276600"/>
            <a:ext cx="40957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62000" y="3362325"/>
            <a:ext cx="91605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label_40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830457" y="3362325"/>
            <a:ext cx="91605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40 ticks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898913" y="3362325"/>
            <a:ext cx="180643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 跌 / 1 不变 / 2 涨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85800" y="3676650"/>
            <a:ext cx="40957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62000" y="3762375"/>
            <a:ext cx="91605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label_60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830457" y="3762375"/>
            <a:ext cx="91605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60 ticks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898913" y="3762375"/>
            <a:ext cx="180643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 跌 / 1 不变 / 2 涨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334000" y="1733550"/>
            <a:ext cx="5619750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638800" y="20002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评价口径</a:t>
            </a:r>
            <a:endParaRPr sz="135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638800" y="2505075"/>
            <a:ext cx="66675" cy="66675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810250" y="2428875"/>
            <a:ext cx="4781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平台返回 precision、recall、F0.5、total PnL、single PnL、model score。</a:t>
            </a:r>
            <a:endParaRPr sz="120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638800" y="2914650"/>
            <a:ext cx="66675" cy="66675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5810250" y="2838450"/>
            <a:ext cx="4781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输出 1 相当于不交易；阈值决定方向信号数量。</a:t>
            </a:r>
            <a:endParaRPr sz="120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638800" y="3324225"/>
            <a:ext cx="66675" cy="66675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810250" y="3248025"/>
            <a:ext cx="4781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 precision 叠加过低覆盖率时，F0.5 和 PnL 仍会很差。</a:t>
            </a:r>
            <a:endParaRPr sz="120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638800" y="3733800"/>
            <a:ext cx="66675" cy="66675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5810250" y="3657600"/>
            <a:ext cx="4781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结果解读需要同时看收益、覆盖率和分类概率。</a:t>
            </a:r>
            <a:endParaRPr sz="120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5334000" y="4686300"/>
            <a:ext cx="5619750" cy="742950"/>
          </a:xfrm>
          <a:prstGeom prst="rect">
            <a:avLst/>
          </a:prstGeom>
          <a:solidFill>
            <a:srgbClr val="FEF0C7"/>
          </a:solidFill>
          <a:ln w="9525">
            <a:solidFill>
              <a:srgbClr val="F79009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638800" y="48577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5470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B5470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约束</a:t>
            </a:r>
            <a:endParaRPr sz="1200" b="1">
              <a:solidFill>
                <a:srgbClr val="B5470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286500" y="4867275"/>
            <a:ext cx="428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按文件和时间处理，避免跨股票、跨日期、跨时段引入未来信息。</a:t>
            </a:r>
            <a:endParaRPr sz="120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数据与清洗</a:t>
            </a:r>
            <a:endParaRPr sz="975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85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先保证数据口径稳定</a:t>
            </a:r>
            <a:endParaRPr sz="23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02870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保留原始价格含义；通过排序、过滤和特征清洗降低异常样本影响。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448800" y="65532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Stock Movement Prediction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714500"/>
            <a:ext cx="18859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1828800"/>
            <a:ext cx="1581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1521/1521</a:t>
            </a:r>
            <a:endParaRPr sz="1800" b="1">
              <a:solidFill>
                <a:srgbClr val="1679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2143125"/>
            <a:ext cx="1581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文件可读取</a:t>
            </a:r>
            <a:endParaRPr sz="86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781300" y="1714500"/>
            <a:ext cx="18859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933700" y="1828800"/>
            <a:ext cx="1581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endParaRPr sz="1800" b="1">
              <a:solidFill>
                <a:srgbClr val="1679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933700" y="2143125"/>
            <a:ext cx="1581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空文件 / 缺失 / Inf</a:t>
            </a:r>
            <a:endParaRPr sz="86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76800" y="1714500"/>
            <a:ext cx="18859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029200" y="1828800"/>
            <a:ext cx="1581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B5470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B5470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约1%</a:t>
            </a:r>
            <a:endParaRPr sz="1800" b="1">
              <a:solidFill>
                <a:srgbClr val="B5470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029200" y="2143125"/>
            <a:ext cx="1581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crossed book 样本</a:t>
            </a:r>
            <a:endParaRPr sz="86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972300" y="1714500"/>
            <a:ext cx="21526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124700" y="1828800"/>
            <a:ext cx="1847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B5470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B5470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5.48%</a:t>
            </a:r>
            <a:endParaRPr sz="1800" b="1">
              <a:solidFill>
                <a:srgbClr val="B5470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124700" y="214312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midprice 小幅不一致</a:t>
            </a:r>
            <a:endParaRPr sz="86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334500" y="1714500"/>
            <a:ext cx="1676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486900" y="1828800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B5470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B5470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59</a:t>
            </a:r>
            <a:endParaRPr sz="1800" b="1">
              <a:solidFill>
                <a:srgbClr val="B5470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486900" y="2143125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理论组合缺失</a:t>
            </a:r>
            <a:endParaRPr sz="86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23900" y="3257550"/>
            <a:ext cx="17526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23900" y="3257550"/>
            <a:ext cx="323850" cy="104775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00100" y="33718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81100" y="3390900"/>
            <a:ext cx="12001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文件名解析排序</a:t>
            </a:r>
            <a:endParaRPr sz="127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81100" y="3657600"/>
            <a:ext cx="1200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date / am-pm / sym 保持时间顺序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476500" y="3781425"/>
            <a:ext cx="3048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686050" y="367665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125" b="1">
              <a:solidFill>
                <a:srgbClr val="D0D5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819400" y="3257550"/>
            <a:ext cx="17526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819400" y="3257550"/>
            <a:ext cx="323850" cy="104775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2895600" y="33718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276600" y="3390900"/>
            <a:ext cx="12001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数值化清洗</a:t>
            </a:r>
            <a:endParaRPr sz="127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276600" y="3657600"/>
            <a:ext cx="1200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NaN / Inf 统一处理，训练矩阵稳定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572000" y="3781425"/>
            <a:ext cx="3048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781550" y="367665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125" b="1">
              <a:solidFill>
                <a:srgbClr val="D0D5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914900" y="3257550"/>
            <a:ext cx="17526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4914900" y="3257550"/>
            <a:ext cx="323850" cy="1047750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991100" y="33718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372100" y="3390900"/>
            <a:ext cx="12001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异常盘口过滤</a:t>
            </a:r>
            <a:endParaRPr sz="127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372100" y="3657600"/>
            <a:ext cx="1200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涨跌停、买卖一缺失等样本剔除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667500" y="3781425"/>
            <a:ext cx="3048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877050" y="367665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125" b="1">
              <a:solidFill>
                <a:srgbClr val="D0D5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010400" y="3257550"/>
            <a:ext cx="17526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010400" y="3257550"/>
            <a:ext cx="323850" cy="1047750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086600" y="33718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467600" y="3390900"/>
            <a:ext cx="12001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历史窗口约束</a:t>
            </a:r>
            <a:endParaRPr sz="127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467600" y="3657600"/>
            <a:ext cx="1200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每组前 4 行跳过，保证 5 帧特征完整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763000" y="3781425"/>
            <a:ext cx="3048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972550" y="367665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125" b="1">
              <a:solidFill>
                <a:srgbClr val="D0D5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105900" y="3257550"/>
            <a:ext cx="17526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105900" y="3257550"/>
            <a:ext cx="323850" cy="1047750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9182100" y="33718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563100" y="3390900"/>
            <a:ext cx="12001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外存缓存</a:t>
            </a:r>
            <a:endParaRPr sz="127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9563100" y="3657600"/>
            <a:ext cx="1200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922 维全量训练不一次性占满内存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23900" y="4876800"/>
            <a:ext cx="9144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952500" y="505777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处理原则</a:t>
            </a:r>
            <a:endParaRPr sz="11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1885950" y="50577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以原始快照文件为单位构造样本；清洗当前与历史信息，不使用未来 tick。</a:t>
            </a:r>
            <a:endParaRPr sz="116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特征工程</a:t>
            </a:r>
            <a:endParaRPr sz="975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85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核心资产是 182 -&gt; 922 的盘口特征体系</a:t>
            </a:r>
            <a:endParaRPr sz="23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02870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保留近期细节，同时加入较远历史的方向与供需摘要。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448800" y="65532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Stock Movement Prediction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2019300"/>
            <a:ext cx="2381250" cy="1047750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04900" y="22479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原始快照窗口</a:t>
            </a:r>
            <a:endParaRPr sz="1500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260985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价格、五档盘口、成交额、标签</a:t>
            </a:r>
            <a:endParaRPr sz="112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257550" y="2543175"/>
            <a:ext cx="666750" cy="1905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829050" y="243840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125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24300" y="2019300"/>
            <a:ext cx="2476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171950" y="22479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182 个基础因子</a:t>
            </a:r>
            <a:endParaRPr sz="150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171950" y="26098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价差 / 深度 / OFI / 动量 / 波动 / 时间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00800" y="2543175"/>
            <a:ext cx="666750" cy="1905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972300" y="243840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125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67550" y="2019300"/>
            <a:ext cx="2971800" cy="1047750"/>
          </a:xfrm>
          <a:prstGeom prst="rect">
            <a:avLst/>
          </a:prstGeom>
          <a:solidFill>
            <a:srgbClr val="DFF4E8"/>
          </a:solidFill>
          <a:ln w="9525">
            <a:solidFill>
              <a:srgbClr val="16794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334250" y="22479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922 维最终向量</a:t>
            </a:r>
            <a:endParaRPr sz="1500" b="1">
              <a:solidFill>
                <a:srgbClr val="1679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334250" y="2609850"/>
            <a:ext cx="2381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最近 5 帧完整特征 + 5/10/20/40/80/100 tick 摘要</a:t>
            </a:r>
            <a:endParaRPr sz="109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6300" y="3762375"/>
            <a:ext cx="29146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28700" y="385762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价格与盘口</a:t>
            </a:r>
            <a:endParaRPr sz="11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28700" y="4048125"/>
            <a:ext cx="2571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n_close、n_midprice、五档买卖价量</a:t>
            </a:r>
            <a:endParaRPr sz="94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210050" y="3762375"/>
            <a:ext cx="29146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362450" y="385762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流动性与压力</a:t>
            </a:r>
            <a:endParaRPr sz="11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362450" y="4048125"/>
            <a:ext cx="2571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spread、depth、imbalance、micro price</a:t>
            </a:r>
            <a:endParaRPr sz="94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543800" y="3762375"/>
            <a:ext cx="29146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696200" y="385762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时序行为</a:t>
            </a:r>
            <a:endParaRPr sz="11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696200" y="4048125"/>
            <a:ext cx="2571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lag、rolling mean/std、ROC、volatility</a:t>
            </a:r>
            <a:endParaRPr sz="94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6300" y="4486275"/>
            <a:ext cx="29146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028700" y="458152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成交与订单流</a:t>
            </a:r>
            <a:endParaRPr sz="11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28700" y="4772025"/>
            <a:ext cx="2571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amount、VPIN、OFI、orderbook pressure</a:t>
            </a:r>
            <a:endParaRPr sz="94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210050" y="4486275"/>
            <a:ext cx="29146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362450" y="458152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时间位置</a:t>
            </a:r>
            <a:endParaRPr sz="11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362450" y="4772025"/>
            <a:ext cx="2571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time_seconds、time_interval</a:t>
            </a:r>
            <a:endParaRPr sz="94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924800" y="5105400"/>
            <a:ext cx="1809750" cy="266700"/>
          </a:xfrm>
          <a:prstGeom prst="rect">
            <a:avLst/>
          </a:prstGeom>
          <a:solidFill>
            <a:srgbClr val="FEF0C7"/>
          </a:solidFill>
          <a:ln w="9525">
            <a:solidFill>
              <a:srgbClr val="FEF0C7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020050" y="5172075"/>
            <a:ext cx="1619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1">
                <a:solidFill>
                  <a:srgbClr val="B5470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1">
                <a:solidFill>
                  <a:srgbClr val="B5470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只用当前与历史 tick</a:t>
            </a:r>
            <a:endParaRPr sz="865" b="1">
              <a:solidFill>
                <a:srgbClr val="B5470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 模型与推理</a:t>
            </a:r>
            <a:endParaRPr sz="975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85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五个 XGBoost 模型，统一特征，分标签阈值</a:t>
            </a:r>
            <a:endParaRPr sz="23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02870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每个 horizon 单独训练；推理阶段用 softprob + 置信阈值控制交易信号。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448800" y="65532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Stock Movement Prediction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924050"/>
            <a:ext cx="2038350" cy="781050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21526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922 维向量</a:t>
            </a:r>
            <a:endParaRPr sz="1650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724150" y="2314575"/>
            <a:ext cx="59055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219450" y="220980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125" b="1">
              <a:solidFill>
                <a:srgbClr val="D0D5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14700" y="1504950"/>
            <a:ext cx="1809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543300" y="158115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label_5 XGB</a:t>
            </a:r>
            <a:endParaRPr sz="101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314700" y="1885950"/>
            <a:ext cx="1809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543300" y="196215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label_10 XGB</a:t>
            </a:r>
            <a:endParaRPr sz="101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314700" y="2266950"/>
            <a:ext cx="1809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543300" y="234315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label_20 XGB</a:t>
            </a:r>
            <a:endParaRPr sz="101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314700" y="2647950"/>
            <a:ext cx="1809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543300" y="272415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label_40 XGB</a:t>
            </a:r>
            <a:endParaRPr sz="101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14700" y="3028950"/>
            <a:ext cx="1809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543300" y="310515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label_60 XGB</a:t>
            </a:r>
            <a:endParaRPr sz="101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124450" y="2314575"/>
            <a:ext cx="66675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695950" y="220980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125" b="1">
              <a:solidFill>
                <a:srgbClr val="D0D5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791200" y="1924050"/>
            <a:ext cx="2000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019800" y="214312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三类概率</a:t>
            </a:r>
            <a:endParaRPr sz="157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19800" y="24003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softprob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791450" y="2314575"/>
            <a:ext cx="6477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343900" y="220980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125" b="1">
              <a:solidFill>
                <a:srgbClr val="D0D5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439150" y="1924050"/>
            <a:ext cx="2381250" cy="781050"/>
          </a:xfrm>
          <a:prstGeom prst="rect">
            <a:avLst/>
          </a:prstGeom>
          <a:solidFill>
            <a:srgbClr val="DFF4E8"/>
          </a:solidFill>
          <a:ln w="9525">
            <a:solidFill>
              <a:srgbClr val="16794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686800" y="214312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阈值后输出</a:t>
            </a:r>
            <a:endParaRPr sz="1575" b="1">
              <a:solidFill>
                <a:srgbClr val="1679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686800" y="24003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 / 1 / 2</a:t>
            </a:r>
            <a:endParaRPr sz="112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04850" y="3752850"/>
            <a:ext cx="4457700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04850" y="3752850"/>
            <a:ext cx="4457700" cy="3619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1050" y="3848100"/>
            <a:ext cx="1917246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训练参数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850696" y="3848100"/>
            <a:ext cx="223565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主线设置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774496" y="3752850"/>
            <a:ext cx="9525" cy="173355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04850" y="4114800"/>
            <a:ext cx="44577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81050" y="4200525"/>
            <a:ext cx="1917246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objective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850696" y="4200525"/>
            <a:ext cx="2235654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multi:softprob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04850" y="4457700"/>
            <a:ext cx="4457700" cy="342900"/>
          </a:xfrm>
          <a:prstGeom prst="rect">
            <a:avLst/>
          </a:prstGeom>
          <a:solidFill>
            <a:srgbClr val="FCFC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04850" y="4457700"/>
            <a:ext cx="44577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81050" y="4543425"/>
            <a:ext cx="1917246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max_depth / lr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2850696" y="4543425"/>
            <a:ext cx="2235654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 / 0.05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04850" y="4800600"/>
            <a:ext cx="44577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81050" y="4886325"/>
            <a:ext cx="1917246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rounds / early stop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850696" y="4886325"/>
            <a:ext cx="2235654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2000 / 100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04850" y="5143500"/>
            <a:ext cx="4457700" cy="342900"/>
          </a:xfrm>
          <a:prstGeom prst="rect">
            <a:avLst/>
          </a:prstGeom>
          <a:solidFill>
            <a:srgbClr val="FCFC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704850" y="5143500"/>
            <a:ext cx="44577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81050" y="5229225"/>
            <a:ext cx="1917246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regularization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2850696" y="5229225"/>
            <a:ext cx="2235654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alpha 10, lambda 2, gamma 0.5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5753100" y="3752850"/>
            <a:ext cx="4476750" cy="18859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5753100" y="3752850"/>
            <a:ext cx="4476750" cy="3619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5829300" y="3848100"/>
            <a:ext cx="913493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标签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895193" y="3848100"/>
            <a:ext cx="913493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最终阈值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6818993" y="3752850"/>
            <a:ext cx="9525" cy="188595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7961086" y="3848100"/>
            <a:ext cx="21925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逻辑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7884886" y="3752850"/>
            <a:ext cx="9525" cy="188595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5753100" y="4114800"/>
            <a:ext cx="44767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5829300" y="4200525"/>
            <a:ext cx="91349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label_5</a:t>
            </a:r>
            <a:endParaRPr sz="96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895193" y="4200525"/>
            <a:ext cx="91349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0.88</a:t>
            </a:r>
            <a:endParaRPr sz="96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7961086" y="4200525"/>
            <a:ext cx="21925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短 horizon 更严格</a:t>
            </a:r>
            <a:endParaRPr sz="96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5753100" y="4419600"/>
            <a:ext cx="4476750" cy="304800"/>
          </a:xfrm>
          <a:prstGeom prst="rect">
            <a:avLst/>
          </a:prstGeom>
          <a:solidFill>
            <a:srgbClr val="FCFC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5753100" y="4419600"/>
            <a:ext cx="44767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5829300" y="4505325"/>
            <a:ext cx="91349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label_10</a:t>
            </a:r>
            <a:endParaRPr sz="96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6895193" y="4505325"/>
            <a:ext cx="91349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0.82</a:t>
            </a:r>
            <a:endParaRPr sz="96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7961086" y="4505325"/>
            <a:ext cx="21925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 precision + 控制覆盖</a:t>
            </a:r>
            <a:endParaRPr sz="96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5753100" y="4724400"/>
            <a:ext cx="44767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5829300" y="4810125"/>
            <a:ext cx="91349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label_20</a:t>
            </a:r>
            <a:endParaRPr sz="96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6895193" y="4810125"/>
            <a:ext cx="91349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0.78</a:t>
            </a:r>
            <a:endParaRPr sz="96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7961086" y="4810125"/>
            <a:ext cx="21925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中等覆盖</a:t>
            </a:r>
            <a:endParaRPr sz="96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5753100" y="5029200"/>
            <a:ext cx="4476750" cy="304800"/>
          </a:xfrm>
          <a:prstGeom prst="rect">
            <a:avLst/>
          </a:prstGeom>
          <a:solidFill>
            <a:srgbClr val="FCFC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5753100" y="5029200"/>
            <a:ext cx="44767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5829300" y="5114925"/>
            <a:ext cx="91349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label_40</a:t>
            </a:r>
            <a:endParaRPr sz="96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6895193" y="5114925"/>
            <a:ext cx="91349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0.70</a:t>
            </a:r>
            <a:endParaRPr sz="96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7961086" y="5114925"/>
            <a:ext cx="21925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 horizon 放宽</a:t>
            </a:r>
            <a:endParaRPr sz="96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5753100" y="5334000"/>
            <a:ext cx="44767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5829300" y="5419725"/>
            <a:ext cx="91349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label_60</a:t>
            </a:r>
            <a:endParaRPr sz="96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6895193" y="5419725"/>
            <a:ext cx="913493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0.65</a:t>
            </a:r>
            <a:endParaRPr sz="96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7961086" y="5419725"/>
            <a:ext cx="21925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收益空间更大</a:t>
            </a:r>
            <a:endParaRPr sz="96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 工程还原</a:t>
            </a:r>
            <a:endParaRPr sz="975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85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从复现到可提交，工程路径同样关键</a:t>
            </a:r>
            <a:endParaRPr sz="23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02870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特征 parity、GPU 训练、包结构、导入路径和推理速度都影响平台结果。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448800" y="65532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Stock Movement Prediction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2247900"/>
            <a:ext cx="18097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2247900"/>
            <a:ext cx="323850" cy="131445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236220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2381250"/>
            <a:ext cx="12573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特征 parity</a:t>
            </a:r>
            <a:endParaRPr sz="127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00150" y="26479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旧版与新版 182/922 特征名一致；抽样数值 max diff = 0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552700" y="2895600"/>
            <a:ext cx="2667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724150" y="2790825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125" b="1">
              <a:solidFill>
                <a:srgbClr val="D0D5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876550" y="2247900"/>
            <a:ext cx="18097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876550" y="2247900"/>
            <a:ext cx="323850" cy="131445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952750" y="236220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333750" y="2381250"/>
            <a:ext cx="12573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新结构</a:t>
            </a:r>
            <a:endParaRPr sz="127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333750" y="26479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train.py / Predictor.py / build_submission.py / smoke test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686300" y="2895600"/>
            <a:ext cx="2667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857750" y="2790825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125" b="1">
              <a:solidFill>
                <a:srgbClr val="D0D5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010150" y="2247900"/>
            <a:ext cx="18097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010150" y="2247900"/>
            <a:ext cx="323850" cy="1314450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086350" y="236220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467350" y="2381250"/>
            <a:ext cx="12573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GPU 全量训练</a:t>
            </a:r>
            <a:endParaRPr sz="127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467350" y="26479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4090 + XGBoost 外存缓存；五个标签各训练一个模型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819900" y="2895600"/>
            <a:ext cx="2667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991350" y="2790825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125" b="1">
              <a:solidFill>
                <a:srgbClr val="D0D5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143750" y="2247900"/>
            <a:ext cx="18097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143750" y="2247900"/>
            <a:ext cx="323850" cy="1314450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219950" y="236220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600950" y="2381250"/>
            <a:ext cx="12573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提交包修复</a:t>
            </a:r>
            <a:endParaRPr sz="127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600950" y="26479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flat zip、package-relative import、batch=256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953500" y="2895600"/>
            <a:ext cx="266700" cy="19050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124950" y="2790825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D0D5D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125" b="1">
              <a:solidFill>
                <a:srgbClr val="D0D5D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277350" y="2247900"/>
            <a:ext cx="18097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277350" y="2247900"/>
            <a:ext cx="323850" cy="131445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353550" y="236220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734550" y="2381250"/>
            <a:ext cx="12573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Turbo 推理</a:t>
            </a:r>
            <a:endParaRPr sz="127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734550" y="26479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256-window parity 0 mismatch；约 5.7s / batch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81100" y="4324350"/>
            <a:ext cx="8953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447800" y="453390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口述重点</a:t>
            </a:r>
            <a:endParaRPr sz="120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2381250" y="4533900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模型训练之外，平台导入路径、运行时间和 feature parity 都必须固定；否则模型结果无法被正确评估。</a:t>
            </a:r>
            <a:endParaRPr sz="116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 实验迭代</a:t>
            </a:r>
            <a:endParaRPr sz="975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85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迭代主线：阈值、收益、切分、运行时</a:t>
            </a:r>
            <a:endParaRPr sz="23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02870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这里保留过程脉络；结果页只展示五个任务齐全的三版。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448800" y="65532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Stock Movement Prediction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1714500"/>
            <a:ext cx="9810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1714500"/>
            <a:ext cx="114300" cy="49530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81100" y="18478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score-threshold</a:t>
            </a:r>
            <a:endParaRPr sz="1200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143250" y="184785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按官方 score proxy 选阈值；形成较平衡的早期基线。</a:t>
            </a:r>
            <a:endParaRPr sz="116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2457450"/>
            <a:ext cx="9810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2457450"/>
            <a:ext cx="114300" cy="495300"/>
          </a:xfrm>
          <a:prstGeom prst="rect">
            <a:avLst/>
          </a:prstGeom>
          <a:solidFill>
            <a:srgbClr val="B5470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81100" y="25908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5470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B5470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avg-PnL min1pct</a:t>
            </a:r>
            <a:endParaRPr sz="1200" b="1">
              <a:solidFill>
                <a:srgbClr val="B5470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143250" y="25908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本地均值更高，平台当时只完成 3 个任务；不进入结果对比。</a:t>
            </a:r>
            <a:endParaRPr sz="116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76300" y="3200400"/>
            <a:ext cx="9810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" y="3200400"/>
            <a:ext cx="114300" cy="495300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81100" y="33337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23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B423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高阈值</a:t>
            </a:r>
            <a:endParaRPr sz="1200" b="1">
              <a:solidFill>
                <a:srgbClr val="B423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143250" y="333375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极端提高概率阈值，验证 precision 与收益的关系。</a:t>
            </a:r>
            <a:endParaRPr sz="116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3943350"/>
            <a:ext cx="9810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76300" y="3943350"/>
            <a:ext cx="114300" cy="4953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181100" y="40767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D28D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6D28D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profit-weight</a:t>
            </a:r>
            <a:endParaRPr sz="1200" b="1">
              <a:solidFill>
                <a:srgbClr val="6D28D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143250" y="40767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训练时强调大波动样本；recall 有变化但 precision 下降。</a:t>
            </a:r>
            <a:endParaRPr sz="116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6300" y="4686300"/>
            <a:ext cx="9810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76300" y="4686300"/>
            <a:ext cx="114300" cy="495300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181100" y="48196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date63 + turbo</a:t>
            </a:r>
            <a:endParaRPr sz="1200" b="1">
              <a:solidFill>
                <a:srgbClr val="1679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143250" y="481965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最终采用 out-of-time 日期切分，并修复平台运行效率。</a:t>
            </a:r>
            <a:endParaRPr sz="116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886700" y="5562600"/>
            <a:ext cx="2190750" cy="266700"/>
          </a:xfrm>
          <a:prstGeom prst="rect">
            <a:avLst/>
          </a:prstGeom>
          <a:solidFill>
            <a:srgbClr val="DBEAFE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981950" y="5629275"/>
            <a:ext cx="2000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结果页只放完整五任务版本</a:t>
            </a:r>
            <a:endParaRPr sz="865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 结果展示口径</a:t>
            </a:r>
            <a:endParaRPr sz="975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85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只比较五个任务都有结果的三个版本</a:t>
            </a:r>
            <a:endParaRPr sz="23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02870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避免把单标签或仅部分平台任务的结果混入主结论。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448800" y="65532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Stock Movement Prediction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1752600"/>
            <a:ext cx="78105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1752600"/>
            <a:ext cx="7810500" cy="3619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1847850"/>
            <a:ext cx="1867557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纳入版本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801007" y="1847850"/>
            <a:ext cx="1194238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结果口径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724807" y="1752600"/>
            <a:ext cx="9525" cy="190500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147645" y="1847850"/>
            <a:ext cx="92491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覆盖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071445" y="1752600"/>
            <a:ext cx="9525" cy="190500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224955" y="1847850"/>
            <a:ext cx="321419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为什么纳入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148755" y="1752600"/>
            <a:ext cx="9525" cy="190500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04850" y="2114550"/>
            <a:ext cx="78105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2200275"/>
            <a:ext cx="1867557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V1 Index score-threshold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801007" y="2200275"/>
            <a:ext cx="1194238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本地验证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147645" y="2200275"/>
            <a:ext cx="92491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5/5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224955" y="2200275"/>
            <a:ext cx="321419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早期完整基线，展示阈值选择后的可用信号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4850" y="2628900"/>
            <a:ext cx="7810500" cy="514350"/>
          </a:xfrm>
          <a:prstGeom prst="rect">
            <a:avLst/>
          </a:prstGeom>
          <a:solidFill>
            <a:srgbClr val="FCFC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04850" y="2628900"/>
            <a:ext cx="78105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81050" y="2714625"/>
            <a:ext cx="1867557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V2 高阈值平台提交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801007" y="2714625"/>
            <a:ext cx="1194238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147645" y="2714625"/>
            <a:ext cx="92491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5/5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224955" y="2714625"/>
            <a:ext cx="321419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验证高 precision 与高收益的关系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04850" y="3143250"/>
            <a:ext cx="78105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81050" y="3228975"/>
            <a:ext cx="1867557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V3 Date63 holdout turbo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801007" y="3228975"/>
            <a:ext cx="1194238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147645" y="3228975"/>
            <a:ext cx="92491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5/5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224955" y="3228975"/>
            <a:ext cx="321419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最终主线版本，含 out-of-time 切分和运行时修复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896350" y="1752600"/>
            <a:ext cx="2152650" cy="21526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144000" y="20002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明确排除</a:t>
            </a:r>
            <a:endParaRPr sz="127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144000" y="2476500"/>
            <a:ext cx="66675" cy="666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315450" y="2400300"/>
            <a:ext cx="1447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avg-PnL min1pct: 平台只观察到 3 个任务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144000" y="2971800"/>
            <a:ext cx="66675" cy="666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315450" y="2895600"/>
            <a:ext cx="1447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label_20 单模型复现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144000" y="3467100"/>
            <a:ext cx="66675" cy="666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315450" y="3390900"/>
            <a:ext cx="1447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外部 leaderboard 样例</a:t>
            </a:r>
            <a:endParaRPr sz="101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04850" y="4457700"/>
            <a:ext cx="7810500" cy="647700"/>
          </a:xfrm>
          <a:prstGeom prst="rect">
            <a:avLst/>
          </a:prstGeom>
          <a:solidFill>
            <a:srgbClr val="FEF0C7"/>
          </a:solidFill>
          <a:ln w="9525">
            <a:solidFill>
              <a:srgbClr val="F79009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971550" y="46672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B5470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B5470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读数注意</a:t>
            </a:r>
            <a:endParaRPr sz="1165" b="1">
              <a:solidFill>
                <a:srgbClr val="B5470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885950" y="4667250"/>
            <a:ext cx="600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V1 是本地验证，V2/V3 是平台结果；绝对 PnL 不直接横向排序，主要用于还原决策过程。</a:t>
            </a:r>
            <a:endParaRPr sz="116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 三版结果对比</a:t>
            </a:r>
            <a:endParaRPr sz="975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85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 precision 仍不足，覆盖率和 PnL 决定结果</a:t>
            </a:r>
            <a:endParaRPr sz="23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02870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三版都覆盖 label_5/10/20/40/60；V3 是最终可提交主线。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448800" y="65532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Stock Movement Prediction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1676400"/>
            <a:ext cx="10572750" cy="24193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1676400"/>
            <a:ext cx="10572750" cy="3619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1771650"/>
            <a:ext cx="1988916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版本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827116" y="1771650"/>
            <a:ext cx="851342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口径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750916" y="1676400"/>
            <a:ext cx="9525" cy="241935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830859" y="1771650"/>
            <a:ext cx="279191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五任务均值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754659" y="1676400"/>
            <a:ext cx="9525" cy="241935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775169" y="1771650"/>
            <a:ext cx="1386671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PnL 摘要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98969" y="1676400"/>
            <a:ext cx="9525" cy="241935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14240" y="1771650"/>
            <a:ext cx="279191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读法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238040" y="1676400"/>
            <a:ext cx="9525" cy="241935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2038350"/>
            <a:ext cx="105727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2124075"/>
            <a:ext cx="1988916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V1 Index score-threshold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827116" y="2124075"/>
            <a:ext cx="851342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本地验证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830859" y="2124075"/>
            <a:ext cx="279191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 0.683 / R 0.0526 / F0.5 0.200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775169" y="2124075"/>
            <a:ext cx="1386671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Val PnL 162.90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314240" y="2124075"/>
            <a:ext cx="279191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平衡基线；仍有平台泛化风险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2724150"/>
            <a:ext cx="10572750" cy="685800"/>
          </a:xfrm>
          <a:prstGeom prst="rect">
            <a:avLst/>
          </a:prstGeom>
          <a:solidFill>
            <a:srgbClr val="FCFC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2724150"/>
            <a:ext cx="105727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85800" y="2809875"/>
            <a:ext cx="1988916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V2 高阈值提交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827116" y="2809875"/>
            <a:ext cx="851342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830859" y="2809875"/>
            <a:ext cx="279191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 0.911 / R 0.00055 / F0.5 0.0028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775169" y="2809875"/>
            <a:ext cx="1386671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Total PnL -0.87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314240" y="2809875"/>
            <a:ext cx="279191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precision 很高，信号过稀疏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09600" y="3409950"/>
            <a:ext cx="105727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85800" y="3495675"/>
            <a:ext cx="1988916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V3 Date63 turbo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827116" y="3495675"/>
            <a:ext cx="851342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830859" y="3495675"/>
            <a:ext cx="279191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 0.672 / R 0.0514 / F0.5 0.1945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775169" y="3495675"/>
            <a:ext cx="1386671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Total PnL 40.60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314240" y="3495675"/>
            <a:ext cx="279191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最终主线；3/5 标签 model score 为正</a:t>
            </a:r>
            <a:endParaRPr sz="1050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38200" y="4400550"/>
            <a:ext cx="3048000" cy="819150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085850" y="45720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V1</a:t>
            </a:r>
            <a:endParaRPr sz="1650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543050" y="45910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能产生方向信号，但还是本地 index split。</a:t>
            </a:r>
            <a:endParaRPr sz="112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419600" y="4400550"/>
            <a:ext cx="3048000" cy="819150"/>
          </a:xfrm>
          <a:prstGeom prst="rect">
            <a:avLst/>
          </a:prstGeom>
          <a:solidFill>
            <a:srgbClr val="FEE4E2"/>
          </a:solidFill>
          <a:ln w="9525">
            <a:solidFill>
              <a:srgbClr val="B42318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667250" y="45720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423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B423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V2</a:t>
            </a:r>
            <a:endParaRPr sz="1650" b="1">
              <a:solidFill>
                <a:srgbClr val="B423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124450" y="459105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precision 漂亮，recall 接近 0，收益被少数样本支配。</a:t>
            </a:r>
            <a:endParaRPr sz="112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001000" y="4400550"/>
            <a:ext cx="3048000" cy="819150"/>
          </a:xfrm>
          <a:prstGeom prst="rect">
            <a:avLst/>
          </a:prstGeom>
          <a:solidFill>
            <a:srgbClr val="DFF4E8"/>
          </a:solidFill>
          <a:ln w="9525">
            <a:solidFill>
              <a:srgbClr val="16794A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248650" y="45720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V3</a:t>
            </a:r>
            <a:endParaRPr sz="1650" b="1">
              <a:solidFill>
                <a:srgbClr val="1679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705850" y="45910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恢复覆盖率，长 horizon 转正，是当前主线。</a:t>
            </a:r>
            <a:endParaRPr sz="112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 最终平台结果</a:t>
            </a:r>
            <a:endParaRPr sz="975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85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Date63 holdout + turbo：20/40/60 为正</a:t>
            </a:r>
            <a:endParaRPr sz="23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02870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短 horizon precision 高，但 single PnL 仍低于平台基准。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448800" y="65532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Stock Movement Prediction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1581150"/>
            <a:ext cx="6572250" cy="24574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1581150"/>
            <a:ext cx="6572250" cy="3619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1676400"/>
            <a:ext cx="680702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99852" y="1676400"/>
            <a:ext cx="773269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Precision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23652" y="1581150"/>
            <a:ext cx="9525" cy="245745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425521" y="1676400"/>
            <a:ext cx="773269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Recall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349321" y="1581150"/>
            <a:ext cx="9525" cy="245745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351190" y="1676400"/>
            <a:ext cx="773269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F0.5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274990" y="1581150"/>
            <a:ext cx="9525" cy="245745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276859" y="1676400"/>
            <a:ext cx="773269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Total PnL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200659" y="1581150"/>
            <a:ext cx="9525" cy="245745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202528" y="1676400"/>
            <a:ext cx="865836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Single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26328" y="1581150"/>
            <a:ext cx="9525" cy="245745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220764" y="1676400"/>
            <a:ext cx="865836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Score</a:t>
            </a:r>
            <a:endParaRPr sz="94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44564" y="1581150"/>
            <a:ext cx="9525" cy="2457450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90550" y="1943100"/>
            <a:ext cx="65722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66750" y="2028825"/>
            <a:ext cx="680702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label_5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499852" y="20288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0.8014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425521" y="20288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0.0518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351190" y="20288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0.2058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276859" y="20288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-0.42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202528" y="2028825"/>
            <a:ext cx="865836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-0.000054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20764" y="2028825"/>
            <a:ext cx="865836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B423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B423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-0.000425</a:t>
            </a:r>
            <a:endParaRPr sz="945" b="0">
              <a:solidFill>
                <a:srgbClr val="B423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90550" y="2362200"/>
            <a:ext cx="6572250" cy="419100"/>
          </a:xfrm>
          <a:prstGeom prst="rect">
            <a:avLst/>
          </a:prstGeom>
          <a:solidFill>
            <a:srgbClr val="FCFC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90550" y="2362200"/>
            <a:ext cx="65722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2447925"/>
            <a:ext cx="680702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label_10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499852" y="24479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0.7625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425521" y="24479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0.0660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351190" y="24479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0.2450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276859" y="24479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2.10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202528" y="2447925"/>
            <a:ext cx="865836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0.000147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220764" y="2447925"/>
            <a:ext cx="865836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B423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B423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-0.000156</a:t>
            </a:r>
            <a:endParaRPr sz="945" b="0">
              <a:solidFill>
                <a:srgbClr val="B423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90550" y="2781300"/>
            <a:ext cx="65722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66750" y="2867025"/>
            <a:ext cx="680702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label_20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499852" y="28670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0.6233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2425521" y="28670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0.0694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3351190" y="28670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0.2400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276859" y="28670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11.72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5202528" y="2867025"/>
            <a:ext cx="865836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0.000761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220764" y="2867025"/>
            <a:ext cx="865836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0.000312</a:t>
            </a:r>
            <a:endParaRPr sz="945" b="1">
              <a:solidFill>
                <a:srgbClr val="1679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90550" y="3200400"/>
            <a:ext cx="6572250" cy="419100"/>
          </a:xfrm>
          <a:prstGeom prst="rect">
            <a:avLst/>
          </a:prstGeom>
          <a:solidFill>
            <a:srgbClr val="FCFC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590550" y="3200400"/>
            <a:ext cx="65722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666750" y="3286125"/>
            <a:ext cx="680702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label_40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499852" y="32861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0.5919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2425521" y="32861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0.0412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3351190" y="32861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0.1612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276859" y="32861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14.61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202528" y="3286125"/>
            <a:ext cx="865836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0.001104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6220764" y="3286125"/>
            <a:ext cx="865836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0.000798</a:t>
            </a:r>
            <a:endParaRPr sz="945" b="1">
              <a:solidFill>
                <a:srgbClr val="1679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590550" y="3619500"/>
            <a:ext cx="657225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666750" y="3705225"/>
            <a:ext cx="680702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label_60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1499852" y="37052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0.5819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2425521" y="37052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0.0289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3351190" y="37052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0.1204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4276859" y="3705225"/>
            <a:ext cx="773269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12.59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5202528" y="3705225"/>
            <a:ext cx="865836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0.001179</a:t>
            </a:r>
            <a:endParaRPr sz="94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6220764" y="3705225"/>
            <a:ext cx="865836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0.000731</a:t>
            </a:r>
            <a:endParaRPr sz="945" b="1">
              <a:solidFill>
                <a:srgbClr val="1679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7639050" y="1657350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Total PnL by label</a:t>
            </a:r>
            <a:endParaRPr sz="1200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8464153" y="2019300"/>
            <a:ext cx="9525" cy="2266950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7639050" y="2095500"/>
            <a:ext cx="628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L5</a:t>
            </a:r>
            <a:endParaRPr sz="97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8362950" y="2124075"/>
            <a:ext cx="1619250" cy="133350"/>
          </a:xfrm>
          <a:prstGeom prst="rect">
            <a:avLst/>
          </a:prstGeom>
          <a:solidFill>
            <a:srgbClr val="F2F4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8422092" y="2124075"/>
            <a:ext cx="42061" cy="133350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10115550" y="20764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423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B423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-0.42</a:t>
            </a:r>
            <a:endParaRPr sz="975" b="0">
              <a:solidFill>
                <a:srgbClr val="B4231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7639050" y="2533650"/>
            <a:ext cx="628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L10</a:t>
            </a:r>
            <a:endParaRPr sz="97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8362950" y="2562225"/>
            <a:ext cx="1619250" cy="133350"/>
          </a:xfrm>
          <a:prstGeom prst="rect">
            <a:avLst/>
          </a:prstGeom>
          <a:solidFill>
            <a:srgbClr val="F2F4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8464153" y="2562225"/>
            <a:ext cx="212244" cy="133350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10115550" y="251460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2.10</a:t>
            </a:r>
            <a:endParaRPr sz="975" b="0">
              <a:solidFill>
                <a:srgbClr val="1679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7639050" y="2971800"/>
            <a:ext cx="628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L20</a:t>
            </a:r>
            <a:endParaRPr sz="97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8362950" y="3000375"/>
            <a:ext cx="1619250" cy="133350"/>
          </a:xfrm>
          <a:prstGeom prst="rect">
            <a:avLst/>
          </a:prstGeom>
          <a:solidFill>
            <a:srgbClr val="F2F4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8464153" y="3000375"/>
            <a:ext cx="1185696" cy="133350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10115550" y="29527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11.72</a:t>
            </a:r>
            <a:endParaRPr sz="975" b="1">
              <a:solidFill>
                <a:srgbClr val="1679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7639050" y="3409950"/>
            <a:ext cx="628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L40</a:t>
            </a:r>
            <a:endParaRPr sz="97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8362950" y="3438525"/>
            <a:ext cx="1619250" cy="133350"/>
          </a:xfrm>
          <a:prstGeom prst="rect">
            <a:avLst/>
          </a:prstGeom>
          <a:solidFill>
            <a:srgbClr val="F2F4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8464153" y="3438525"/>
            <a:ext cx="1479043" cy="133350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10115550" y="339090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14.61</a:t>
            </a:r>
            <a:endParaRPr sz="975" b="1">
              <a:solidFill>
                <a:srgbClr val="1679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7639050" y="3848100"/>
            <a:ext cx="628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L60</a:t>
            </a:r>
            <a:endParaRPr sz="97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8362950" y="3876675"/>
            <a:ext cx="1619250" cy="133350"/>
          </a:xfrm>
          <a:prstGeom prst="rect">
            <a:avLst/>
          </a:prstGeom>
          <a:solidFill>
            <a:srgbClr val="F2F4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8464153" y="3876675"/>
            <a:ext cx="1274097" cy="133350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10115550" y="38290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12.59</a:t>
            </a:r>
            <a:endParaRPr sz="975" b="1">
              <a:solidFill>
                <a:srgbClr val="1679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590550" y="4305300"/>
            <a:ext cx="6572250" cy="742950"/>
          </a:xfrm>
          <a:prstGeom prst="rect">
            <a:avLst/>
          </a:prstGeom>
          <a:solidFill>
            <a:srgbClr val="DFF4E8"/>
          </a:solidFill>
          <a:ln w="9525">
            <a:solidFill>
              <a:srgbClr val="16794A"/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838200" y="451485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主结论</a:t>
            </a:r>
            <a:endParaRPr sz="1200" b="1">
              <a:solidFill>
                <a:srgbClr val="1679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1676400" y="45148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label_40 model score 最高；label_60 single PnL 较高；label_5/10 precision 高但收益低于基准。</a:t>
            </a:r>
            <a:endParaRPr sz="112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 结果解释</a:t>
            </a:r>
            <a:endParaRPr sz="975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85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我们实际学到的东西</a:t>
            </a:r>
            <a:endParaRPr sz="23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02870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这些结论比单个分数更重要，会直接影响后续建模方向。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448800" y="65532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Stock Movement Prediction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1600200"/>
            <a:ext cx="952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1600200"/>
            <a:ext cx="95250" cy="533400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62050" y="17526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分类概率不等于预期收益</a:t>
            </a:r>
            <a:endParaRPr sz="116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210050" y="1752600"/>
            <a:ext cx="581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高阈值版本 precision 很高，但 recall 和 PnL 均失败。</a:t>
            </a:r>
            <a:endParaRPr sz="111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2381250"/>
            <a:ext cx="952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2381250"/>
            <a:ext cx="95250" cy="53340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25336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阈值是核心超参数</a:t>
            </a:r>
            <a:endParaRPr sz="116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210050" y="2533650"/>
            <a:ext cx="581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阈值会同时改变准确率、信号数量和收益分布。</a:t>
            </a:r>
            <a:endParaRPr sz="111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76300" y="3162300"/>
            <a:ext cx="952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" y="3162300"/>
            <a:ext cx="95250" cy="53340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62050" y="33147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日期切分更接近真实评估</a:t>
            </a:r>
            <a:endParaRPr sz="116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210050" y="3314700"/>
            <a:ext cx="581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out-of-time 切分减少同日市场状态泄露风险。</a:t>
            </a:r>
            <a:endParaRPr sz="111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3943350"/>
            <a:ext cx="952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76300" y="3943350"/>
            <a:ext cx="95250" cy="533400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162050" y="40957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 horizon 更适合收益目标</a:t>
            </a:r>
            <a:endParaRPr sz="116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210050" y="4095750"/>
            <a:ext cx="581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20/40/60 precision 较低，但 single PnL 与 score 更好。</a:t>
            </a:r>
            <a:endParaRPr sz="111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6300" y="4724400"/>
            <a:ext cx="952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76300" y="4724400"/>
            <a:ext cx="95250" cy="53340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162050" y="48768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短 horizon 需要更强收益过滤</a:t>
            </a:r>
            <a:endParaRPr sz="116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210050" y="4876800"/>
            <a:ext cx="581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5/10 方向较容易，但价格移动幅度不足。</a:t>
            </a:r>
            <a:endParaRPr sz="111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 后续方向</a:t>
            </a:r>
            <a:endParaRPr sz="975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85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下一步：从方向概率转向交易期望值</a:t>
            </a:r>
            <a:endParaRPr sz="2325" b="1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02870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模型、阈值和提交流程都应围绕 positive-EV 信号设计。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448800" y="65532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Stock Movement Prediction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1676400"/>
            <a:ext cx="3143250" cy="289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194310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模型目标</a:t>
            </a:r>
            <a:endParaRPr sz="1350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2495550"/>
            <a:ext cx="66675" cy="66675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2419350"/>
            <a:ext cx="2305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增加 signed return / expected PnL 预测</a:t>
            </a:r>
            <a:endParaRPr sz="112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3048000"/>
            <a:ext cx="66675" cy="66675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62050" y="2971800"/>
            <a:ext cx="2305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二阶段模型：先方向，再判断收益空间</a:t>
            </a:r>
            <a:endParaRPr sz="112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90600" y="3600450"/>
            <a:ext cx="66675" cy="66675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62050" y="3524250"/>
            <a:ext cx="2305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概率校准或排序模型，替代单纯阈值</a:t>
            </a:r>
            <a:endParaRPr sz="112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19600" y="1676400"/>
            <a:ext cx="3143250" cy="289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667250" y="19431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679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验证与特征</a:t>
            </a:r>
            <a:endParaRPr sz="1350" b="1">
              <a:solidFill>
                <a:srgbClr val="1679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667250" y="2495550"/>
            <a:ext cx="66675" cy="66675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838700" y="2419350"/>
            <a:ext cx="2305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按日期段、股票、上午/下午做阈值稳定性</a:t>
            </a:r>
            <a:endParaRPr sz="112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667250" y="3048000"/>
            <a:ext cx="66675" cy="66675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838700" y="2971800"/>
            <a:ext cx="2305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短 horizon 强化 OFI 与最优价变化</a:t>
            </a:r>
            <a:endParaRPr sz="112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667250" y="3600450"/>
            <a:ext cx="66675" cy="66675"/>
          </a:xfrm>
          <a:prstGeom prst="rect">
            <a:avLst/>
          </a:prstGeom>
          <a:solidFill>
            <a:srgbClr val="167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838700" y="3524250"/>
            <a:ext cx="2305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 horizon 强化趋势、波动和成交流量</a:t>
            </a:r>
            <a:endParaRPr sz="112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096250" y="1676400"/>
            <a:ext cx="3143250" cy="289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343900" y="194310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D28D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6D28D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提交 QA</a:t>
            </a:r>
            <a:endParaRPr sz="1350" b="1">
              <a:solidFill>
                <a:srgbClr val="6D28D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43900" y="2495550"/>
            <a:ext cx="66675" cy="66675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515350" y="2419350"/>
            <a:ext cx="2305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包结构、导入路径、依赖最小化</a:t>
            </a:r>
            <a:endParaRPr sz="112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343900" y="3048000"/>
            <a:ext cx="66675" cy="66675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515350" y="2971800"/>
            <a:ext cx="2305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原始/加速推理 parity check</a:t>
            </a:r>
            <a:endParaRPr sz="112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343900" y="3600450"/>
            <a:ext cx="66675" cy="66675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515350" y="3524250"/>
            <a:ext cx="2305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F29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batch benchmark 与平台 smoke test</a:t>
            </a:r>
            <a:endParaRPr sz="1125" b="0">
              <a:solidFill>
                <a:srgbClr val="1F29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4277</Words>
  <Application>WPS 演示</Application>
  <PresentationFormat>Converted Presentation</PresentationFormat>
  <Paragraphs>648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Denisly</cp:lastModifiedBy>
  <cp:revision>1</cp:revision>
  <dcterms:created xsi:type="dcterms:W3CDTF">2026-06-07T10:25:30Z</dcterms:created>
  <dcterms:modified xsi:type="dcterms:W3CDTF">2026-06-07T10:25:30Z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FACDF1BC46F0A6C61A47256AF85C261E_42</vt:lpwstr>
  </property>
  <property fmtid="{D5CDD505-2E9C-101B-9397-08002B2CF9AE}" pid="3" name="KSOProductBuildVer">
    <vt:lpwstr>2052-12.1.25895.25895</vt:lpwstr>
  </property>
</Properties>
</file>